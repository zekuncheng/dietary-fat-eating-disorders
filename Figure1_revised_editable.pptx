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27e8c6f1024247" /><Relationship Type="http://schemas.openxmlformats.org/officeDocument/2006/relationships/extended-properties" Target="/docProps/app.xml" Id="R896afd7e84d94acb" /><Relationship Type="http://schemas.openxmlformats.org/officeDocument/2006/relationships/officeDocument" Target="/ppt/presentation.xml" Id="Ra04e38a667904f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92896405c143f2"/>
  </p:sldMasterIdLst>
  <p:notesMasterIdLst>
    <p:notesMasterId xmlns:r="http://schemas.openxmlformats.org/officeDocument/2006/relationships" r:id="R2db0ebb4617d4d50"/>
  </p:notesMasterIdLst>
  <p:sldIdLst>
    <p:sldId xmlns:r="http://schemas.openxmlformats.org/officeDocument/2006/relationships" id="256" r:id="Re8211e52fd1a4b77"/>
  </p:sldIdLst>
  <p:sldSz cx="6858000" cy="9144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32f8a56ab94525" /><Relationship Type="http://schemas.openxmlformats.org/officeDocument/2006/relationships/slideMaster" Target="/ppt/slideMasters/slideMaster1.xml" Id="Ree92896405c143f2" /><Relationship Type="http://schemas.openxmlformats.org/officeDocument/2006/relationships/notesMaster" Target="/ppt/notesMasters/notesMaster1.xml" Id="R2db0ebb4617d4d50" /><Relationship Type="http://schemas.openxmlformats.org/officeDocument/2006/relationships/presProps" Target="/ppt/presProps.xml" Id="Rf538f6b391a84945" /><Relationship Type="http://schemas.openxmlformats.org/officeDocument/2006/relationships/viewProps" Target="/ppt/viewProps.xml" Id="R034dd615462249aa" /><Relationship Type="http://schemas.openxmlformats.org/officeDocument/2006/relationships/tableStyles" Target="/ppt/tableStyles.xml" Id="R49c4bdc5d9cd4aed" /><Relationship Type="http://schemas.openxmlformats.org/officeDocument/2006/relationships/slide" Target="/ppt/slides/slide1.xml" Id="Re8211e52fd1a4b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7020ed053f40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6b44ed31dd45f6" /><Relationship Type="http://schemas.openxmlformats.org/officeDocument/2006/relationships/notesMaster" Target="/ppt/notesMasters/notesMaster1.xml" Id="R23e9b15697b242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8b519d556c45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85ef688bac41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252c1fffd9456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9c70a77f264e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d66faf9a984a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04e45ce50245b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6d32e775ff4f8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943b1d31ce4fe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d84f64f41542a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8074666e8f4af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db66c27a17488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8AADB6-AD37-441E-BF81-DFB401E2754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14350" y="2840568"/>
            <a:ext cx="5829300" cy="19600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3047AA1-A24F-4CCF-894E-A9BBB2311D5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28700" y="5181600"/>
            <a:ext cx="4800600" cy="23368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9A6C210-C01D-4B25-93EC-AA9D8A3463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449E9D-7F71-4B69-9941-76E5255D6E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F25D878-AA1D-4072-BB83-E510CEC204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37257D-D1E4-457D-827C-F7DB4250E3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5C7D7B-0B6C-46EB-A6C1-E55BE30505F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8F7FA59-80D8-4211-93BC-EC2205EB1D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8352265-FDB6-4F8C-ADD7-74A788C9F9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A078C9-BE76-4D69-8F61-8F8B58B08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15440A-A6AC-4F5D-AF48-45D86BECC2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1735" y="5875867"/>
            <a:ext cx="5829300" cy="1816100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3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AEEAD0-1296-4E75-AD26-3C4867A900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1735" y="3875618"/>
            <a:ext cx="5829300" cy="2000249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27188D3-8C0A-4AB3-B272-A8ECD37B28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509F40-7122-4A74-BE10-236FAAA4A4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622D19-6AB4-4FE9-B719-CC3D50609C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D43036-F5D1-4259-A76F-A31A48B16A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C94597B-8FA9-46D2-95AF-3153B43161A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42900" y="2133601"/>
            <a:ext cx="3028950" cy="603461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100"/>
            </a:lvl1pPr>
            <a:lvl2pPr>
              <a:buNone/>
              <a:defRPr sz="1800"/>
            </a:lvl2pPr>
            <a:lvl3pPr>
              <a:buNone/>
              <a:defRPr sz="1500"/>
            </a:lvl3pPr>
            <a:lvl4pPr>
              <a:buNone/>
              <a:defRPr sz="1350"/>
            </a:lvl4pPr>
            <a:lvl5pPr>
              <a:buNone/>
              <a:defRPr sz="1350"/>
            </a:lvl5pPr>
            <a:lvl6pPr>
              <a:buNone/>
              <a:defRPr sz="1350"/>
            </a:lvl6pPr>
            <a:lvl7pPr>
              <a:buNone/>
              <a:defRPr sz="1350"/>
            </a:lvl7pPr>
            <a:lvl8pPr>
              <a:buNone/>
              <a:defRPr sz="1350"/>
            </a:lvl8pPr>
            <a:lvl9pPr>
              <a:buNone/>
              <a:defRPr sz="135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072BFDA-C08B-49C6-ABE2-C3205A3D64E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86150" y="2133601"/>
            <a:ext cx="3028950" cy="603461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100"/>
            </a:lvl1pPr>
            <a:lvl2pPr>
              <a:buNone/>
              <a:defRPr sz="1800"/>
            </a:lvl2pPr>
            <a:lvl3pPr>
              <a:buNone/>
              <a:defRPr sz="1500"/>
            </a:lvl3pPr>
            <a:lvl4pPr>
              <a:buNone/>
              <a:defRPr sz="1350"/>
            </a:lvl4pPr>
            <a:lvl5pPr>
              <a:buNone/>
              <a:defRPr sz="1350"/>
            </a:lvl5pPr>
            <a:lvl6pPr>
              <a:buNone/>
              <a:defRPr sz="1350"/>
            </a:lvl6pPr>
            <a:lvl7pPr>
              <a:buNone/>
              <a:defRPr sz="1350"/>
            </a:lvl7pPr>
            <a:lvl8pPr>
              <a:buNone/>
              <a:defRPr sz="1350"/>
            </a:lvl8pPr>
            <a:lvl9pPr>
              <a:buNone/>
              <a:defRPr sz="135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9120AA9-5468-4C35-91F2-CADD7E4FC0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10/16/2026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FD6C1C3-E735-42CE-861F-669B45C405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974052F-BFBA-47E9-A107-8852D82E76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7A449F-3466-4B6B-8423-A9EEF755D7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9DB408-17CF-4394-801B-151D229733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900" y="2046817"/>
            <a:ext cx="3030141" cy="853016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9638166-FC67-4042-9655-157B481F57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2900" y="2899833"/>
            <a:ext cx="3030141" cy="5268384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500"/>
            </a:lvl2pPr>
            <a:lvl3pPr>
              <a:buNone/>
              <a:defRPr sz="1350"/>
            </a:lvl3pPr>
            <a:lvl4pPr>
              <a:buNone/>
              <a:defRPr sz="1200"/>
            </a:lvl4pPr>
            <a:lvl5pPr>
              <a:buNone/>
              <a:defRPr sz="1200"/>
            </a:lvl5pPr>
            <a:lvl6pPr>
              <a:buNone/>
              <a:defRPr sz="1200"/>
            </a:lvl6pPr>
            <a:lvl7pPr>
              <a:buNone/>
              <a:defRPr sz="1200"/>
            </a:lvl7pPr>
            <a:lvl8pPr>
              <a:buNone/>
              <a:defRPr sz="1200"/>
            </a:lvl8pPr>
            <a:lvl9pPr>
              <a:buNone/>
              <a:defRPr sz="12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AF2C959-3AF2-43F9-8E7B-0961753431C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3483769" y="2046817"/>
            <a:ext cx="3031331" cy="853016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8D57C22-7CBA-42E0-B515-E2E7742A9C9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3483769" y="2899833"/>
            <a:ext cx="3031331" cy="5268384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500"/>
            </a:lvl2pPr>
            <a:lvl3pPr>
              <a:buNone/>
              <a:defRPr sz="1350"/>
            </a:lvl3pPr>
            <a:lvl4pPr>
              <a:buNone/>
              <a:defRPr sz="1200"/>
            </a:lvl4pPr>
            <a:lvl5pPr>
              <a:buNone/>
              <a:defRPr sz="1200"/>
            </a:lvl5pPr>
            <a:lvl6pPr>
              <a:buNone/>
              <a:defRPr sz="1200"/>
            </a:lvl6pPr>
            <a:lvl7pPr>
              <a:buNone/>
              <a:defRPr sz="1200"/>
            </a:lvl7pPr>
            <a:lvl8pPr>
              <a:buNone/>
              <a:defRPr sz="1200"/>
            </a:lvl8pPr>
            <a:lvl9pPr>
              <a:buNone/>
              <a:defRPr sz="12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5366F97-D5C6-4391-99B2-E3C7E6EAFB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10/16/2026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33026E9-0D49-4B46-B4EA-06AE3B635A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FBADB26-A8C9-418D-839A-8EE1BC7CD6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503ED4-62C8-411B-A117-FC5CA248A4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FB6DAAC-A27D-407E-8CA5-E53CAFD1C0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10/16/2026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B929F5A4-1E6B-4CF6-9093-093BBF3141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8FC5B09-5BCB-4BCC-8E87-27FAE14DEC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FBD8F59-3DF1-473C-BB78-6657CF328A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10/16/2026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E9D723D-C029-4FB8-8CD1-6D1F1A82B1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65ED68D-5195-4425-AC26-1593EC93CA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A7C508-92D4-456C-8787-A4A722B458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0" y="364067"/>
            <a:ext cx="2256235" cy="154940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5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52C7EC-51D6-4A0E-9DF8-BD223452EA5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681287" y="364067"/>
            <a:ext cx="3833813" cy="780415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F29E56A-11A8-46BC-BF2E-86D80F4B68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2900" y="1913467"/>
            <a:ext cx="2256235" cy="625475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31ACC3E-F471-42AA-AD06-41FBB2CB44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10/16/2026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0681E62-D8D9-4365-9A72-1F678EC407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D922965-3174-446B-AE9E-0BAC70FE56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033750-E578-4B59-A47C-6CE01C8908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44216" y="6400800"/>
            <a:ext cx="4114800" cy="75565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5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3CDFBC5-88EF-4614-8F00-0970E35BACE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344216" y="817033"/>
            <a:ext cx="4114800" cy="54864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E7525B6-D4A7-4AE0-A96E-BC4F473819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344216" y="7156451"/>
            <a:ext cx="4114800" cy="1073149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4A6D696-ACFE-412E-B8D4-0EA4264F0B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10/16/2026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2919CFA-81A6-4937-A805-23DAAA9991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82F2391-74B6-4182-B3DC-81A260A031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E90D8D-1210-43D7-B1AE-C70CE64A18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78D16F-AFC6-4300-832B-EFD6B7CC67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4666564-727B-468A-B3B3-F0D104559A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10353D-F482-478E-9963-056414A3D1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3A8EDE-DF97-4C53-ACEC-9CF8CB7B27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30472DD-E416-451D-AB88-ED3714D3C4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72050" y="366185"/>
            <a:ext cx="1543050" cy="7802033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C2CCF00-0509-4D2E-BFD3-86D76094DB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900" y="366185"/>
            <a:ext cx="4514850" cy="7802033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5180212-26BD-4F6A-8104-A8094361E7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AE2EDC-578D-4184-BE64-AE6CF8CBEB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1000B3-45D3-4F80-9CFC-C47930BF22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f3f991647d42ca" /><Relationship Type="http://schemas.openxmlformats.org/officeDocument/2006/relationships/slideLayout" Target="/ppt/slideLayouts/slideLayout1.xml" Id="Rb1faadccb6f14f85" /><Relationship Type="http://schemas.openxmlformats.org/officeDocument/2006/relationships/slideLayout" Target="/ppt/slideLayouts/slideLayout2.xml" Id="Rfd4f82fd351142c0" /><Relationship Type="http://schemas.openxmlformats.org/officeDocument/2006/relationships/slideLayout" Target="/ppt/slideLayouts/slideLayout3.xml" Id="R90ccafa1286e4427" /><Relationship Type="http://schemas.openxmlformats.org/officeDocument/2006/relationships/slideLayout" Target="/ppt/slideLayouts/slideLayout4.xml" Id="R722fe0f712ef497c" /><Relationship Type="http://schemas.openxmlformats.org/officeDocument/2006/relationships/slideLayout" Target="/ppt/slideLayouts/slideLayout5.xml" Id="Rcde981e7b7224b71" /><Relationship Type="http://schemas.openxmlformats.org/officeDocument/2006/relationships/slideLayout" Target="/ppt/slideLayouts/slideLayout6.xml" Id="R030d4c911c284b43" /><Relationship Type="http://schemas.openxmlformats.org/officeDocument/2006/relationships/slideLayout" Target="/ppt/slideLayouts/slideLayout7.xml" Id="R3ae02eafb5544cfc" /><Relationship Type="http://schemas.openxmlformats.org/officeDocument/2006/relationships/slideLayout" Target="/ppt/slideLayouts/slideLayout8.xml" Id="R249291665dc8445d" /><Relationship Type="http://schemas.openxmlformats.org/officeDocument/2006/relationships/slideLayout" Target="/ppt/slideLayouts/slideLayout9.xml" Id="R95459e17e55f4930" /><Relationship Type="http://schemas.openxmlformats.org/officeDocument/2006/relationships/slideLayout" Target="/ppt/slideLayouts/slideLayout10.xml" Id="R8c79c4ed30564226" /><Relationship Type="http://schemas.openxmlformats.org/officeDocument/2006/relationships/slideLayout" Target="/ppt/slideLayouts/slideLayout11.xml" Id="Rd1876f64176b49a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9C58CAD-5B1A-4D53-AE0D-F6AD1A53D7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0" y="366184"/>
            <a:ext cx="61722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4570E42-6C12-44D4-8A0F-8674A5B647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900" y="2133601"/>
            <a:ext cx="6172200" cy="60346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068796C-FD55-42F6-B265-9134E583F87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42900" y="8475134"/>
            <a:ext cx="1600200" cy="4868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10/16/2026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AB3D009-B57B-4CF1-9611-BF4DC77F1D3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2343150" y="8475134"/>
            <a:ext cx="2171700" cy="4868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4D07CB-3A65-4855-A0C6-08B09291A2A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4914900" y="8475134"/>
            <a:ext cx="1600200" cy="4868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faadccb6f14f85"/>
    <p:sldLayoutId xmlns:r="http://schemas.openxmlformats.org/officeDocument/2006/relationships" id="2147483650" r:id="Rfd4f82fd351142c0"/>
    <p:sldLayoutId xmlns:r="http://schemas.openxmlformats.org/officeDocument/2006/relationships" id="2147483651" r:id="R90ccafa1286e4427"/>
    <p:sldLayoutId xmlns:r="http://schemas.openxmlformats.org/officeDocument/2006/relationships" id="2147483652" r:id="R722fe0f712ef497c"/>
    <p:sldLayoutId xmlns:r="http://schemas.openxmlformats.org/officeDocument/2006/relationships" id="2147483653" r:id="Rcde981e7b7224b71"/>
    <p:sldLayoutId xmlns:r="http://schemas.openxmlformats.org/officeDocument/2006/relationships" id="2147483654" r:id="R030d4c911c284b43"/>
    <p:sldLayoutId xmlns:r="http://schemas.openxmlformats.org/officeDocument/2006/relationships" id="2147483655" r:id="R3ae02eafb5544cfc"/>
    <p:sldLayoutId xmlns:r="http://schemas.openxmlformats.org/officeDocument/2006/relationships" id="2147483656" r:id="R249291665dc8445d"/>
    <p:sldLayoutId xmlns:r="http://schemas.openxmlformats.org/officeDocument/2006/relationships" id="2147483657" r:id="R95459e17e55f4930"/>
    <p:sldLayoutId xmlns:r="http://schemas.openxmlformats.org/officeDocument/2006/relationships" id="2147483658" r:id="R8c79c4ed30564226"/>
    <p:sldLayoutId xmlns:r="http://schemas.openxmlformats.org/officeDocument/2006/relationships" id="2147483659" r:id="Rd1876f64176b49a0"/>
  </p:sldLayoutIdLst>
  <p:txStyles>
    <p:titleStyle>
      <a:lvl1pPr xmlns:a="http://schemas.openxmlformats.org/drawingml/2006/main" algn="ctr" defTabSz="342900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57175" indent="-257175" algn="l" defTabSz="3429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57213" indent="-214313" algn="l" defTabSz="342900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342900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342900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342900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3429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3429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3429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3429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898042e2f344797" /><Relationship Type="http://schemas.openxmlformats.org/officeDocument/2006/relationships/image" Target="/ppt/media/image.png" Id="R385ff9202078419a" /><Relationship Type="http://schemas.openxmlformats.org/officeDocument/2006/relationships/image" Target="/ppt/media/image2.png" Id="Rb672ff152cdb443e" /><Relationship Type="http://schemas.openxmlformats.org/officeDocument/2006/relationships/image" Target="/ppt/media/image3.png" Id="R3c4831f8d84541e0" /><Relationship Type="http://schemas.openxmlformats.org/officeDocument/2006/relationships/image" Target="/ppt/media/image4.png" Id="R2aaa3e371a394357" /><Relationship Type="http://schemas.openxmlformats.org/officeDocument/2006/relationships/image" Target="/ppt/media/image5.png" Id="R4d06a47a320246cc" /><Relationship Type="http://schemas.openxmlformats.org/officeDocument/2006/relationships/image" Target="/ppt/media/image.svg" Id="Rab028984cddd40eb" /><Relationship Type="http://schemas.openxmlformats.org/officeDocument/2006/relationships/image" Target="/ppt/media/image6.png" Id="Rcf8d98f5be244515" /><Relationship Type="http://schemas.openxmlformats.org/officeDocument/2006/relationships/image" Target="/ppt/media/image7.png" Id="Rfa16badf970b4cab" /><Relationship Type="http://schemas.openxmlformats.org/officeDocument/2006/relationships/image" Target="/ppt/media/image2.svg" Id="R1f387f194a364068" /><Relationship Type="http://schemas.openxmlformats.org/officeDocument/2006/relationships/image" Target="/ppt/media/image8.png" Id="Rab7ca212315245ad" /><Relationship Type="http://schemas.openxmlformats.org/officeDocument/2006/relationships/image" Target="/ppt/media/image3.svg" Id="Rc24f6d28c8f2460f" /><Relationship Type="http://schemas.openxmlformats.org/officeDocument/2006/relationships/image" Target="/ppt/media/image9.png" Id="R819e611c5ee3401c" /><Relationship Type="http://schemas.openxmlformats.org/officeDocument/2006/relationships/image" Target="/ppt/media/image4.svg" Id="R4eff717a2c264e31" /><Relationship Type="http://schemas.openxmlformats.org/officeDocument/2006/relationships/image" Target="/ppt/media/image10.png" Id="R5c5cc119e43e4e86" /><Relationship Type="http://schemas.openxmlformats.org/officeDocument/2006/relationships/image" Target="/ppt/media/image5.svg" Id="R723946a7232844af" /><Relationship Type="http://schemas.openxmlformats.org/officeDocument/2006/relationships/image" Target="/ppt/media/image11.png" Id="R918b1f351d1d4bb8" /><Relationship Type="http://schemas.openxmlformats.org/officeDocument/2006/relationships/image" Target="/ppt/media/image12.png" Id="R621b789509c54d82" /><Relationship Type="http://schemas.openxmlformats.org/officeDocument/2006/relationships/image" Target="/ppt/media/image13.png" Id="Rb9b8b2790d4e4ed9" /><Relationship Type="http://schemas.openxmlformats.org/officeDocument/2006/relationships/image" Target="/ppt/media/image14.png" Id="Re3174c7e5c91465d" /><Relationship Type="http://schemas.openxmlformats.org/officeDocument/2006/relationships/image" Target="/ppt/media/image15.png" Id="Rbf56c577bbb64768" /><Relationship Type="http://schemas.openxmlformats.org/officeDocument/2006/relationships/notesSlide" Target="/ppt/notesSlides/notesSlide1.xml" Id="R9c8da13b22a44f1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832F2F7-2853-1789-F6F1-F5706D51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460" y="181932"/>
            <a:ext cx="1284470" cy="359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46924A-41BD-7CD4-34A3-290AD0AD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460" y="181932"/>
            <a:ext cx="128447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atin typeface="Times New Roman"/>
                <a:ea typeface="Times New Roman"/>
                <a:cs typeface="Times New Roman"/>
              </a:rPr>
              <a:t>Records identified from the following sources</a:t>
            </a:r>
            <a:br>
              <a:rPr sz="1350"/>
            </a:br>
            <a:br>
              <a:rPr sz="1350"/>
            </a:br>
            <a:endParaRPr sz="1350"/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066C6FFD-5421-E2AF-C8E2-98719B32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19220" y="558142"/>
            <a:ext cx="342900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atin typeface="Times New Roman"/>
                <a:ea typeface="Times New Roman"/>
                <a:cs typeface="Times New Roman"/>
              </a:rPr>
              <a:t>PubMed (653)</a:t>
            </a:r>
            <a:br>
              <a:rPr sz="900">
                <a:latin typeface="Times New Roman"/>
                <a:ea typeface="Times New Roman"/>
                <a:cs typeface="Times New Roman"/>
              </a:rPr>
            </a:br>
            <a:r>
              <a:rPr sz="900">
                <a:latin typeface="Times New Roman"/>
                <a:ea typeface="Times New Roman"/>
                <a:cs typeface="Times New Roman"/>
              </a:rPr>
              <a:t>Web of Science (621)</a:t>
            </a:r>
            <a:br>
              <a:rPr sz="900">
                <a:latin typeface="Times New Roman"/>
                <a:ea typeface="Times New Roman"/>
                <a:cs typeface="Times New Roman"/>
              </a:rPr>
            </a:br>
            <a:r>
              <a:rPr sz="900">
                <a:latin typeface="Times New Roman"/>
                <a:ea typeface="Times New Roman"/>
                <a:cs typeface="Times New Roman"/>
              </a:rPr>
              <a:t>Embase (346)</a:t>
            </a:r>
            <a:br>
              <a:rPr sz="900">
                <a:latin typeface="Times New Roman"/>
                <a:ea typeface="Times New Roman"/>
                <a:cs typeface="Times New Roman"/>
              </a:rPr>
            </a:br>
            <a:r>
              <a:rPr sz="900">
                <a:latin typeface="Times New Roman"/>
                <a:ea typeface="Times New Roman"/>
                <a:cs typeface="Times New Roman"/>
              </a:rPr>
              <a:t>Cochrane Library (115)</a:t>
            </a:r>
            <a:endParaRPr sz="9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9A2F108-EFD6-9485-2AA9-EE35BD5C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460" y="541696"/>
            <a:ext cx="1284470" cy="639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cxnSp>
        <p:nvCxnSpPr>
          <p:cNvPr id="10" name="直接箭头连接符 9">
            <a:extLst xmlns:a="http://schemas.openxmlformats.org/drawingml/2006/main">
              <a:ext uri="{FF2B5EF4-FFF2-40B4-BE49-F238E27FC236}">
                <a16:creationId xmlns:a16="http://schemas.microsoft.com/office/drawing/2014/main" id="{9143F752-94A3-4997-B750-29F23531F8BC}"/>
              </a:ext>
            </a:extLst>
          </p:cNvPr>
          <p:cNvCxnSpPr/>
          <p:nvPr/>
        </p:nvCxnSpPr>
        <p:spPr>
          <a:xfrm xmlns:a="http://schemas.openxmlformats.org/drawingml/2006/main">
            <a:off x="1380290" y="1181390"/>
            <a:ext cx="0" cy="16228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80A799B-CB2D-70E9-5D7D-2125BB29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34" y="1351165"/>
            <a:ext cx="1284470" cy="2077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2E28F26-FEFF-A4B9-204B-0FDA7FB2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34" y="2408309"/>
            <a:ext cx="1284470" cy="307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75D5E05-F346-F51E-51D8-E97520A2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447" y="667239"/>
            <a:ext cx="1284470" cy="3462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5451E88-6C61-A7D9-5144-9D932AC5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34" y="1737162"/>
            <a:ext cx="1284470" cy="484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42AE4E8-A0E4-EAA6-9F15-A0483004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738" y="2901917"/>
            <a:ext cx="1284470" cy="3462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57FEB8C-93AF-A6CC-B9B3-BEA1B249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121" y="1293478"/>
            <a:ext cx="1284470" cy="3462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7C8CFAA-0DB0-8980-7AB3-69229D0D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725" y="1768615"/>
            <a:ext cx="1994396" cy="1018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12F4350-6AF9-F820-FF44-21F652AE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738" y="3433908"/>
            <a:ext cx="1284470" cy="2077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09D458A-AF50-5870-7544-3E661C37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274" y="181932"/>
            <a:ext cx="1590831" cy="3462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91EA4AB4-203A-DB4B-0D7E-EFD56405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854" y="1343671"/>
            <a:ext cx="1418444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latin typeface="Times New Roman"/>
                <a:ea typeface="Times New Roman"/>
                <a:cs typeface="Times New Roman"/>
              </a:rPr>
              <a:t>Filter records (n = 615)</a:t>
            </a:r>
          </a:p>
        </p:txBody>
      </p:sp>
      <p:cxnSp>
        <p:nvCxnSpPr>
          <p:cNvPr id="28" name="直接箭头连接符 27">
            <a:extLst xmlns:a="http://schemas.openxmlformats.org/drawingml/2006/main">
              <a:ext uri="{FF2B5EF4-FFF2-40B4-BE49-F238E27FC236}">
                <a16:creationId xmlns:a16="http://schemas.microsoft.com/office/drawing/2014/main" id="{E4326B32-2F30-4199-B0B4-931D2F80093B}"/>
              </a:ext>
            </a:extLst>
          </p:cNvPr>
          <p:cNvCxnSpPr/>
          <p:nvPr/>
        </p:nvCxnSpPr>
        <p:spPr>
          <a:xfrm xmlns:a="http://schemas.openxmlformats.org/drawingml/2006/main">
            <a:off x="2023930" y="840364"/>
            <a:ext cx="259517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1500161F-0CA8-C85B-38E7-CB95FA4F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0616" y="667239"/>
            <a:ext cx="142119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latin typeface="Times New Roman"/>
                <a:ea typeface="Times New Roman"/>
                <a:cs typeface="Times New Roman"/>
              </a:rPr>
              <a:t>A total of 1120 duplicate studies were screened</a:t>
            </a:r>
          </a:p>
        </p:txBody>
      </p:sp>
      <p:cxnSp>
        <p:nvCxnSpPr>
          <p:cNvPr id="34" name="直接箭头连接符 33">
            <a:extLst xmlns:a="http://schemas.openxmlformats.org/drawingml/2006/main">
              <a:ext uri="{FF2B5EF4-FFF2-40B4-BE49-F238E27FC236}">
                <a16:creationId xmlns:a16="http://schemas.microsoft.com/office/drawing/2014/main" id="{CEAA9F88-37BE-4D64-9C92-092AD14D2909}"/>
              </a:ext>
            </a:extLst>
          </p:cNvPr>
          <p:cNvCxnSpPr/>
          <p:nvPr/>
        </p:nvCxnSpPr>
        <p:spPr>
          <a:xfrm xmlns:a="http://schemas.openxmlformats.org/drawingml/2006/main">
            <a:off x="1380290" y="1551420"/>
            <a:ext cx="0" cy="185742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5B285681-7E1D-0D37-C156-5A6CAD66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877" y="1730784"/>
            <a:ext cx="1375464" cy="507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atin typeface="Times New Roman"/>
                <a:ea typeface="Times New Roman"/>
                <a:cs typeface="Times New Roman"/>
              </a:rPr>
              <a:t>Full-text articles evaluated for eligibility</a:t>
            </a:r>
            <a:br>
              <a:rPr sz="900">
                <a:latin typeface="Times New Roman"/>
                <a:ea typeface="Times New Roman"/>
                <a:cs typeface="Times New Roman"/>
              </a:rPr>
            </a:br>
            <a:r>
              <a:rPr sz="900">
                <a:latin typeface="Times New Roman"/>
                <a:ea typeface="Times New Roman"/>
                <a:cs typeface="Times New Roman"/>
              </a:rPr>
              <a:t>(n = 35)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80C63AEA-3E4D-551F-3B95-EA8FF7CE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877" y="2389402"/>
            <a:ext cx="140907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atin typeface="Times New Roman"/>
                <a:ea typeface="Times New Roman"/>
                <a:cs typeface="Times New Roman"/>
              </a:rPr>
              <a:t>Meta-analysis</a:t>
            </a:r>
            <a:br>
              <a:rPr sz="900">
                <a:latin typeface="Times New Roman"/>
                <a:ea typeface="Times New Roman"/>
                <a:cs typeface="Times New Roman"/>
              </a:rPr>
            </a:br>
            <a:r>
              <a:rPr sz="900">
                <a:latin typeface="Times New Roman"/>
                <a:ea typeface="Times New Roman"/>
                <a:cs typeface="Times New Roman"/>
              </a:rPr>
              <a:t>Included literature (n = 2</a:t>
            </a:r>
            <a:r>
              <a:rPr sz="900">
                <a:latin typeface="Times New Roman"/>
                <a:ea typeface="Times New Roman"/>
                <a:cs typeface="Times New Roman"/>
              </a:rPr>
              <a:t>4</a:t>
            </a:r>
            <a:r>
              <a:rPr sz="900"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cxnSp>
        <p:nvCxnSpPr>
          <p:cNvPr id="41" name="直接箭头连接符 40">
            <a:extLst xmlns:a="http://schemas.openxmlformats.org/drawingml/2006/main">
              <a:ext uri="{FF2B5EF4-FFF2-40B4-BE49-F238E27FC236}">
                <a16:creationId xmlns:a16="http://schemas.microsoft.com/office/drawing/2014/main" id="{85D4981C-2D62-4B59-82AE-AB5B6FC0DBD2}"/>
              </a:ext>
            </a:extLst>
          </p:cNvPr>
          <p:cNvCxnSpPr/>
          <p:nvPr/>
        </p:nvCxnSpPr>
        <p:spPr>
          <a:xfrm xmlns:a="http://schemas.openxmlformats.org/drawingml/2006/main">
            <a:off x="1380290" y="2221909"/>
            <a:ext cx="0" cy="185742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E9FDBB8D-1917-A8F0-5746-E0739688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66" y="2887378"/>
            <a:ext cx="140907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atin typeface="Times New Roman"/>
                <a:ea typeface="Times New Roman"/>
                <a:cs typeface="Times New Roman"/>
              </a:rPr>
              <a:t>Literature quality evaluation</a:t>
            </a:r>
          </a:p>
        </p:txBody>
      </p:sp>
      <p:cxnSp>
        <p:nvCxnSpPr>
          <p:cNvPr id="44" name="直接箭头连接符 43">
            <a:extLst xmlns:a="http://schemas.openxmlformats.org/drawingml/2006/main">
              <a:ext uri="{FF2B5EF4-FFF2-40B4-BE49-F238E27FC236}">
                <a16:creationId xmlns:a16="http://schemas.microsoft.com/office/drawing/2014/main" id="{2D6AEBCB-EC0F-4D07-ADA5-74D8E41E46B8}"/>
              </a:ext>
            </a:extLst>
          </p:cNvPr>
          <p:cNvCxnSpPr/>
          <p:nvPr/>
        </p:nvCxnSpPr>
        <p:spPr>
          <a:xfrm xmlns:a="http://schemas.openxmlformats.org/drawingml/2006/main">
            <a:off x="1380290" y="2716175"/>
            <a:ext cx="0" cy="185742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46" name="文本框 45">
            <a:extLst xmlns:a="http://schemas.openxmlformats.org/drawingml/2006/main">
              <a:ext uri="{FF2B5EF4-FFF2-40B4-BE49-F238E27FC236}">
                <a16:creationId xmlns:a16="http://schemas.microsoft.com/office/drawing/2014/main" id="{0F37243C-CF5A-8F28-DE1D-535AC59F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855" y="3433908"/>
            <a:ext cx="1172042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atin typeface="Times New Roman"/>
                <a:ea typeface="Times New Roman"/>
                <a:cs typeface="Times New Roman"/>
              </a:rPr>
              <a:t>Analysis of results</a:t>
            </a:r>
          </a:p>
        </p:txBody>
      </p:sp>
      <p:cxnSp>
        <p:nvCxnSpPr>
          <p:cNvPr id="47" name="直接箭头连接符 46">
            <a:extLst xmlns:a="http://schemas.openxmlformats.org/drawingml/2006/main">
              <a:ext uri="{FF2B5EF4-FFF2-40B4-BE49-F238E27FC236}">
                <a16:creationId xmlns:a16="http://schemas.microsoft.com/office/drawing/2014/main" id="{D6830CD0-EA95-44A2-8568-82B8018E9213}"/>
              </a:ext>
            </a:extLst>
          </p:cNvPr>
          <p:cNvCxnSpPr/>
          <p:nvPr/>
        </p:nvCxnSpPr>
        <p:spPr>
          <a:xfrm xmlns:a="http://schemas.openxmlformats.org/drawingml/2006/main">
            <a:off x="1380290" y="3248166"/>
            <a:ext cx="0" cy="185742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8" name="直接箭头连接符 47">
            <a:extLst xmlns:a="http://schemas.openxmlformats.org/drawingml/2006/main">
              <a:ext uri="{FF2B5EF4-FFF2-40B4-BE49-F238E27FC236}">
                <a16:creationId xmlns:a16="http://schemas.microsoft.com/office/drawing/2014/main" id="{B8DDD6D9-77D2-49AE-8B74-E4A77E606A26}"/>
              </a:ext>
            </a:extLst>
          </p:cNvPr>
          <p:cNvCxnSpPr/>
          <p:nvPr/>
        </p:nvCxnSpPr>
        <p:spPr>
          <a:xfrm xmlns:a="http://schemas.openxmlformats.org/drawingml/2006/main">
            <a:off x="2043604" y="1453087"/>
            <a:ext cx="259517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D2167C55-6996-C7D9-7323-121E7E10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86" y="1293478"/>
            <a:ext cx="394803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atin typeface="Times New Roman"/>
                <a:ea typeface="Times New Roman"/>
                <a:cs typeface="Times New Roman"/>
              </a:rPr>
              <a:t>Filter by article and title</a:t>
            </a:r>
            <a:br>
              <a:rPr sz="900">
                <a:latin typeface="Times New Roman"/>
                <a:ea typeface="Times New Roman"/>
                <a:cs typeface="Times New Roman"/>
              </a:rPr>
            </a:br>
            <a:r>
              <a:rPr sz="900">
                <a:latin typeface="Times New Roman"/>
                <a:ea typeface="Times New Roman"/>
                <a:cs typeface="Times New Roman"/>
              </a:rPr>
              <a:t>(n = 580)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CC201A3E-50D7-BDCD-FB2F-B997EEC1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298" y="1748630"/>
            <a:ext cx="2196994" cy="10618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atin typeface="Times New Roman"/>
                <a:ea typeface="Times New Roman"/>
                <a:cs typeface="Times New Roman"/>
              </a:rPr>
              <a:t>Article content filtering</a:t>
            </a:r>
            <a:br>
              <a:rPr sz="900">
                <a:latin typeface="Times New Roman"/>
                <a:ea typeface="Times New Roman"/>
                <a:cs typeface="Times New Roman"/>
              </a:rPr>
            </a:br>
            <a:r>
              <a:rPr sz="900">
                <a:latin typeface="Times New Roman"/>
                <a:ea typeface="Times New Roman"/>
                <a:cs typeface="Times New Roman"/>
              </a:rPr>
              <a:t>The content of the article does not match</a:t>
            </a:r>
            <a:br>
              <a:rPr sz="900">
                <a:latin typeface="Times New Roman"/>
                <a:ea typeface="Times New Roman"/>
                <a:cs typeface="Times New Roman"/>
              </a:rPr>
            </a:br>
            <a:r>
              <a:rPr sz="900">
                <a:latin typeface="Times New Roman"/>
                <a:ea typeface="Times New Roman"/>
                <a:cs typeface="Times New Roman"/>
              </a:rPr>
              <a:t>(n = 5)</a:t>
            </a:r>
            <a:br>
              <a:rPr sz="900">
                <a:latin typeface="Times New Roman"/>
                <a:ea typeface="Times New Roman"/>
                <a:cs typeface="Times New Roman"/>
              </a:rPr>
            </a:br>
            <a:r>
              <a:rPr sz="900">
                <a:latin typeface="Times New Roman"/>
                <a:ea typeface="Times New Roman"/>
                <a:cs typeface="Times New Roman"/>
              </a:rPr>
              <a:t>Poor quality of articles (n = 3)</a:t>
            </a:r>
            <a:br>
              <a:rPr sz="900">
                <a:latin typeface="Times New Roman"/>
                <a:ea typeface="Times New Roman"/>
                <a:cs typeface="Times New Roman"/>
              </a:rPr>
            </a:br>
            <a:r>
              <a:rPr sz="900">
                <a:latin typeface="Times New Roman"/>
                <a:ea typeface="Times New Roman"/>
                <a:cs typeface="Times New Roman"/>
              </a:rPr>
              <a:t>Inconsistent intervention modality (n </a:t>
            </a:r>
            <a:r>
              <a:rPr sz="900">
                <a:latin typeface="Times New Roman"/>
                <a:ea typeface="Times New Roman"/>
                <a:cs typeface="Times New Roman"/>
              </a:rPr>
              <a:t>= 1)</a:t>
            </a:r>
            <a:br>
              <a:rPr sz="900">
                <a:latin typeface="Times New Roman"/>
                <a:ea typeface="Times New Roman"/>
                <a:cs typeface="Times New Roman"/>
              </a:rPr>
            </a:br>
            <a:r>
              <a:rPr sz="900">
                <a:latin typeface="Times New Roman"/>
                <a:ea typeface="Times New Roman"/>
                <a:cs typeface="Times New Roman"/>
              </a:rPr>
              <a:t>Study data discrepancies (n = 1)</a:t>
            </a:r>
            <a:br>
              <a:rPr sz="900">
                <a:latin typeface="Times New Roman"/>
                <a:ea typeface="Times New Roman"/>
                <a:cs typeface="Times New Roman"/>
              </a:rPr>
            </a:br>
            <a:r>
              <a:rPr sz="900">
                <a:latin typeface="Times New Roman"/>
                <a:ea typeface="Times New Roman"/>
                <a:cs typeface="Times New Roman"/>
              </a:rPr>
              <a:t>Non-English literature (n = 1)</a:t>
            </a:r>
          </a:p>
        </p:txBody>
      </p:sp>
      <p:cxnSp>
        <p:nvCxnSpPr>
          <p:cNvPr id="53" name="直接箭头连接符 52">
            <a:extLst xmlns:a="http://schemas.openxmlformats.org/drawingml/2006/main">
              <a:ext uri="{FF2B5EF4-FFF2-40B4-BE49-F238E27FC236}">
                <a16:creationId xmlns:a16="http://schemas.microsoft.com/office/drawing/2014/main" id="{768DBE1F-E04D-48C6-84FA-27A7931AFDB1}"/>
              </a:ext>
            </a:extLst>
          </p:cNvPr>
          <p:cNvCxnSpPr/>
          <p:nvPr/>
        </p:nvCxnSpPr>
        <p:spPr>
          <a:xfrm xmlns:a="http://schemas.openxmlformats.org/drawingml/2006/main">
            <a:off x="2051100" y="2000227"/>
            <a:ext cx="259517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FD008A73-B3BF-D734-F130-D1D68D87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3332" y="181932"/>
            <a:ext cx="175478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atin typeface="Times New Roman"/>
                <a:ea typeface="Times New Roman"/>
                <a:cs typeface="Times New Roman"/>
              </a:rPr>
              <a:t>Database source:</a:t>
            </a:r>
            <a:br>
              <a:rPr sz="900">
                <a:latin typeface="Times New Roman"/>
                <a:ea typeface="Times New Roman"/>
                <a:cs typeface="Times New Roman"/>
              </a:rPr>
            </a:br>
            <a:r>
              <a:rPr sz="900">
                <a:latin typeface="Times New Roman"/>
                <a:ea typeface="Times New Roman"/>
                <a:cs typeface="Times New Roman"/>
              </a:rPr>
              <a:t>PubMed, WoS, Embase database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4627A521-04A5-F6E6-DF7A-20104A75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407" y="690461"/>
            <a:ext cx="1284470" cy="762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BA095AC6-DA72-FE53-DB54-707A887B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565" y="1615368"/>
            <a:ext cx="1922489" cy="3428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716E33D1-6DDD-2627-8E62-30FD3A06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398" y="2123898"/>
            <a:ext cx="1269479" cy="474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192A449B-5CEF-16D1-7327-777369D3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566" y="3085539"/>
            <a:ext cx="1881266" cy="2225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D6BF8E70-A083-92F8-60B9-9ED557D6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292" y="2760423"/>
            <a:ext cx="1800695" cy="175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45D0E101-408B-8324-544A-B80AB047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353" y="3381197"/>
            <a:ext cx="1180475" cy="34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cxnSp>
        <p:nvCxnSpPr>
          <p:cNvPr id="62" name="直接箭头连接符 61">
            <a:extLst xmlns:a="http://schemas.openxmlformats.org/drawingml/2006/main">
              <a:ext uri="{FF2B5EF4-FFF2-40B4-BE49-F238E27FC236}">
                <a16:creationId xmlns:a16="http://schemas.microsoft.com/office/drawing/2014/main" id="{751C7072-66C7-42DA-B4C7-0E414559833D}"/>
              </a:ext>
            </a:extLst>
          </p:cNvPr>
          <p:cNvCxnSpPr/>
          <p:nvPr/>
        </p:nvCxnSpPr>
        <p:spPr>
          <a:xfrm xmlns:a="http://schemas.openxmlformats.org/drawingml/2006/main">
            <a:off x="5234636" y="528181"/>
            <a:ext cx="0" cy="16228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9749E387-52B0-47AA-3C59-FF905AFE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120" y="691339"/>
            <a:ext cx="1916867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atin typeface="Times New Roman"/>
                <a:ea typeface="Times New Roman"/>
                <a:cs typeface="Times New Roman"/>
              </a:rPr>
              <a:t>Search formula:</a:t>
            </a:r>
            <a:br>
              <a:rPr sz="900">
                <a:latin typeface="Times New Roman"/>
                <a:ea typeface="Times New Roman"/>
                <a:cs typeface="Times New Roman"/>
              </a:rPr>
            </a:br>
            <a:r>
              <a:rPr sz="900">
                <a:latin typeface="Times New Roman"/>
                <a:ea typeface="Times New Roman"/>
                <a:cs typeface="Times New Roman"/>
              </a:rPr>
              <a:t>"Eating Disorders" OR</a:t>
            </a:r>
            <a:br>
              <a:rPr sz="900">
                <a:latin typeface="Times New Roman"/>
                <a:ea typeface="Times New Roman"/>
                <a:cs typeface="Times New Roman"/>
              </a:rPr>
            </a:br>
            <a:r>
              <a:rPr sz="900">
                <a:latin typeface="Times New Roman"/>
                <a:ea typeface="Times New Roman"/>
                <a:cs typeface="Times New Roman"/>
              </a:rPr>
              <a:t>"Anorexia Nervosa" OR</a:t>
            </a:r>
            <a:br>
              <a:rPr sz="900">
                <a:latin typeface="Times New Roman"/>
                <a:ea typeface="Times New Roman"/>
                <a:cs typeface="Times New Roman"/>
              </a:rPr>
            </a:br>
            <a:r>
              <a:rPr sz="900">
                <a:latin typeface="Times New Roman"/>
                <a:ea typeface="Times New Roman"/>
                <a:cs typeface="Times New Roman"/>
              </a:rPr>
              <a:t>"Bulimia Nervosa" OR</a:t>
            </a:r>
            <a:br>
              <a:rPr sz="900">
                <a:latin typeface="Times New Roman"/>
                <a:ea typeface="Times New Roman"/>
                <a:cs typeface="Times New Roman"/>
              </a:rPr>
            </a:br>
            <a:r>
              <a:rPr sz="900">
                <a:latin typeface="Times New Roman"/>
                <a:ea typeface="Times New Roman"/>
                <a:cs typeface="Times New Roman"/>
              </a:rPr>
              <a:t>"Psychogenic Vomiting"</a:t>
            </a:r>
          </a:p>
        </p:txBody>
      </p:sp>
      <p:cxnSp>
        <p:nvCxnSpPr>
          <p:cNvPr id="65" name="直接箭头连接符 64">
            <a:extLst xmlns:a="http://schemas.openxmlformats.org/drawingml/2006/main">
              <a:ext uri="{FF2B5EF4-FFF2-40B4-BE49-F238E27FC236}">
                <a16:creationId xmlns:a16="http://schemas.microsoft.com/office/drawing/2014/main" id="{50A45809-6688-4FC8-82A6-2EF0E8244C9E}"/>
              </a:ext>
            </a:extLst>
          </p:cNvPr>
          <p:cNvCxnSpPr/>
          <p:nvPr/>
        </p:nvCxnSpPr>
        <p:spPr>
          <a:xfrm xmlns:a="http://schemas.openxmlformats.org/drawingml/2006/main">
            <a:off x="5266490" y="1453087"/>
            <a:ext cx="0" cy="16228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67" name="文本框 66">
            <a:extLst xmlns:a="http://schemas.openxmlformats.org/drawingml/2006/main">
              <a:ext uri="{FF2B5EF4-FFF2-40B4-BE49-F238E27FC236}">
                <a16:creationId xmlns:a16="http://schemas.microsoft.com/office/drawing/2014/main" id="{7B3072FA-92FA-37D0-2012-0B39DD1D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121" y="1615368"/>
            <a:ext cx="205458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atin typeface="Times New Roman"/>
                <a:ea typeface="Times New Roman"/>
                <a:cs typeface="Times New Roman"/>
              </a:rPr>
              <a:t>Eight influencing factors of eating disorders were analyzed and established</a:t>
            </a:r>
          </a:p>
        </p:txBody>
      </p:sp>
      <p:cxnSp>
        <p:nvCxnSpPr>
          <p:cNvPr id="68" name="直接箭头连接符 67">
            <a:extLst xmlns:a="http://schemas.openxmlformats.org/drawingml/2006/main">
              <a:ext uri="{FF2B5EF4-FFF2-40B4-BE49-F238E27FC236}">
                <a16:creationId xmlns:a16="http://schemas.microsoft.com/office/drawing/2014/main" id="{CBE0AF63-C6A4-42B1-8C49-55FF96305F95}"/>
              </a:ext>
            </a:extLst>
          </p:cNvPr>
          <p:cNvCxnSpPr/>
          <p:nvPr/>
        </p:nvCxnSpPr>
        <p:spPr>
          <a:xfrm xmlns:a="http://schemas.openxmlformats.org/drawingml/2006/main">
            <a:off x="5266490" y="1961617"/>
            <a:ext cx="0" cy="16228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70" name="文本框 69">
            <a:extLst xmlns:a="http://schemas.openxmlformats.org/drawingml/2006/main">
              <a:ext uri="{FF2B5EF4-FFF2-40B4-BE49-F238E27FC236}">
                <a16:creationId xmlns:a16="http://schemas.microsoft.com/office/drawing/2014/main" id="{D9766CE5-0861-37C2-9453-CC2D04D0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6637" y="2113395"/>
            <a:ext cx="1399707" cy="507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atin typeface="Times New Roman"/>
                <a:ea typeface="Times New Roman"/>
                <a:cs typeface="Times New Roman"/>
              </a:rPr>
              <a:t>Search and obtain valid cases through database</a:t>
            </a:r>
            <a:br>
              <a:rPr sz="900">
                <a:latin typeface="Times New Roman"/>
                <a:ea typeface="Times New Roman"/>
                <a:cs typeface="Times New Roman"/>
              </a:rPr>
            </a:br>
            <a:r>
              <a:rPr sz="900">
                <a:latin typeface="Times New Roman"/>
                <a:ea typeface="Times New Roman"/>
                <a:cs typeface="Times New Roman"/>
              </a:rPr>
              <a:t>(n = 32)</a:t>
            </a:r>
          </a:p>
        </p:txBody>
      </p:sp>
      <p:sp>
        <p:nvSpPr>
          <p:cNvPr id="72" name="文本框 71">
            <a:extLst xmlns:a="http://schemas.openxmlformats.org/drawingml/2006/main">
              <a:ext uri="{FF2B5EF4-FFF2-40B4-BE49-F238E27FC236}">
                <a16:creationId xmlns:a16="http://schemas.microsoft.com/office/drawing/2014/main" id="{42C64967-AD44-6679-2391-F9D17FA4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3332" y="2735650"/>
            <a:ext cx="1941227" cy="4385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atin typeface="Times New Roman"/>
                <a:ea typeface="Times New Roman"/>
                <a:cs typeface="Times New Roman"/>
              </a:rPr>
              <a:t>Assignment and necessity analysis</a:t>
            </a:r>
          </a:p>
          <a:p xmlns:a="http://schemas.openxmlformats.org/drawingml/2006/main">
            <a:endParaRPr sz="1350"/>
          </a:p>
        </p:txBody>
      </p:sp>
      <p:cxnSp>
        <p:nvCxnSpPr>
          <p:cNvPr id="73" name="直接箭头连接符 72">
            <a:extLst xmlns:a="http://schemas.openxmlformats.org/drawingml/2006/main">
              <a:ext uri="{FF2B5EF4-FFF2-40B4-BE49-F238E27FC236}">
                <a16:creationId xmlns:a16="http://schemas.microsoft.com/office/drawing/2014/main" id="{360B00E7-65B3-44F4-B5AC-1F46F5148617}"/>
              </a:ext>
            </a:extLst>
          </p:cNvPr>
          <p:cNvCxnSpPr/>
          <p:nvPr/>
        </p:nvCxnSpPr>
        <p:spPr>
          <a:xfrm xmlns:a="http://schemas.openxmlformats.org/drawingml/2006/main">
            <a:off x="5253374" y="2598143"/>
            <a:ext cx="0" cy="16228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75" name="文本框 74">
            <a:extLst xmlns:a="http://schemas.openxmlformats.org/drawingml/2006/main">
              <a:ext uri="{FF2B5EF4-FFF2-40B4-BE49-F238E27FC236}">
                <a16:creationId xmlns:a16="http://schemas.microsoft.com/office/drawing/2014/main" id="{9118EF52-1409-BD9D-9E1D-B0B1759F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120" y="3085540"/>
            <a:ext cx="2006808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atin typeface="Times New Roman"/>
                <a:ea typeface="Times New Roman"/>
                <a:cs typeface="Times New Roman"/>
              </a:rPr>
              <a:t>Directly perform configuration analysis</a:t>
            </a:r>
          </a:p>
        </p:txBody>
      </p:sp>
      <p:cxnSp>
        <p:nvCxnSpPr>
          <p:cNvPr id="76" name="直接箭头连接符 75">
            <a:extLst xmlns:a="http://schemas.openxmlformats.org/drawingml/2006/main">
              <a:ext uri="{FF2B5EF4-FFF2-40B4-BE49-F238E27FC236}">
                <a16:creationId xmlns:a16="http://schemas.microsoft.com/office/drawing/2014/main" id="{DA847C1F-D7FF-4F3F-B857-6F9F43838485}"/>
              </a:ext>
            </a:extLst>
          </p:cNvPr>
          <p:cNvCxnSpPr/>
          <p:nvPr/>
        </p:nvCxnSpPr>
        <p:spPr>
          <a:xfrm xmlns:a="http://schemas.openxmlformats.org/drawingml/2006/main">
            <a:off x="5260870" y="2936376"/>
            <a:ext cx="0" cy="16228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77" name="TextBox 20">
            <a:extLst xmlns:a="http://schemas.openxmlformats.org/drawingml/2006/main">
              <a:ext uri="{FF2B5EF4-FFF2-40B4-BE49-F238E27FC236}">
                <a16:creationId xmlns:a16="http://schemas.microsoft.com/office/drawing/2014/main" id="{BC15C7AB-738F-29E8-38A8-87B70F2C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3938" y="3433908"/>
            <a:ext cx="167546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atin typeface="Times New Roman"/>
                <a:ea typeface="Times New Roman"/>
                <a:cs typeface="Times New Roman"/>
              </a:rPr>
              <a:t>14 configurations were obtained</a:t>
            </a:r>
          </a:p>
        </p:txBody>
      </p:sp>
      <p:cxnSp>
        <p:nvCxnSpPr>
          <p:cNvPr id="78" name="直接箭头连接符 77">
            <a:extLst xmlns:a="http://schemas.openxmlformats.org/drawingml/2006/main">
              <a:ext uri="{FF2B5EF4-FFF2-40B4-BE49-F238E27FC236}">
                <a16:creationId xmlns:a16="http://schemas.microsoft.com/office/drawing/2014/main" id="{1A14A244-458D-4A3B-BA19-AD41490F33D0}"/>
              </a:ext>
            </a:extLst>
          </p:cNvPr>
          <p:cNvCxnSpPr/>
          <p:nvPr/>
        </p:nvCxnSpPr>
        <p:spPr>
          <a:xfrm xmlns:a="http://schemas.openxmlformats.org/drawingml/2006/main">
            <a:off x="5266490" y="3308121"/>
            <a:ext cx="0" cy="16228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E31AAB60-23ED-0928-AEE8-D7DCB1CC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273" y="3466280"/>
            <a:ext cx="1664844" cy="175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cxnSp>
        <p:nvCxnSpPr>
          <p:cNvPr id="81" name="直接箭头连接符 80">
            <a:extLst xmlns:a="http://schemas.openxmlformats.org/drawingml/2006/main">
              <a:ext uri="{FF2B5EF4-FFF2-40B4-BE49-F238E27FC236}">
                <a16:creationId xmlns:a16="http://schemas.microsoft.com/office/drawing/2014/main" id="{4BF8F0FE-B2DB-42AB-8F31-8B84C13996BE}"/>
              </a:ext>
            </a:extLst>
          </p:cNvPr>
          <p:cNvCxnSpPr/>
          <p:nvPr/>
        </p:nvCxnSpPr>
        <p:spPr>
          <a:xfrm xmlns:a="http://schemas.openxmlformats.org/drawingml/2006/main" flipH="1">
            <a:off x="4164713" y="3554322"/>
            <a:ext cx="288561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893FEEA-A190-37A1-EA52-AF4B075B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604" y="3358115"/>
            <a:ext cx="130262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atin typeface="Times New Roman"/>
                <a:ea typeface="Times New Roman"/>
                <a:cs typeface="Times New Roman"/>
              </a:rPr>
              <a:t>Obtain the core factors and the edge factors</a:t>
            </a:r>
          </a:p>
        </p:txBody>
      </p:sp>
      <p:sp>
        <p:nvSpPr>
          <p:cNvPr id="87" name="直接连接符 86">
            <a:extLst xmlns:a="http://schemas.openxmlformats.org/drawingml/2006/main">
              <a:ext uri="{FF2B5EF4-FFF2-40B4-BE49-F238E27FC236}">
                <a16:creationId xmlns:a16="http://schemas.microsoft.com/office/drawing/2014/main" id="{173D7880-9FBD-45A0-BC06-F247676A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290" y="3641657"/>
            <a:ext cx="0" cy="239098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68350A70-11A5-403E-B4D8-C4CD116E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260870" y="3641657"/>
            <a:ext cx="5621" cy="239098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2CD5605D-C00C-49E2-8196-B2B747A9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8314" y="3727447"/>
            <a:ext cx="0" cy="153308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800A4687-23BA-4AD7-92BF-5CF7FD8A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290" y="3880755"/>
            <a:ext cx="3889245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cxnSp>
        <p:nvCxnSpPr>
          <p:cNvPr id="104" name="直接箭头连接符 103">
            <a:extLst xmlns:a="http://schemas.openxmlformats.org/drawingml/2006/main">
              <a:ext uri="{FF2B5EF4-FFF2-40B4-BE49-F238E27FC236}">
                <a16:creationId xmlns:a16="http://schemas.microsoft.com/office/drawing/2014/main" id="{F8FA2673-700B-4D48-A954-2CFA325B34C6}"/>
              </a:ext>
            </a:extLst>
          </p:cNvPr>
          <p:cNvCxnSpPr/>
          <p:nvPr/>
        </p:nvCxnSpPr>
        <p:spPr>
          <a:xfrm xmlns:a="http://schemas.openxmlformats.org/drawingml/2006/main">
            <a:off x="3558314" y="3880755"/>
            <a:ext cx="0" cy="346074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pic>
        <p:nvPicPr>
          <p:cNvPr id="108" name="图片 107">
            <a:extLst xmlns:a="http://schemas.openxmlformats.org/drawingml/2006/main">
              <a:ext uri="{FF2B5EF4-FFF2-40B4-BE49-F238E27FC236}">
                <a16:creationId xmlns:a16="http://schemas.microsoft.com/office/drawing/2014/main" id="{D118A1F4-91FF-4909-A379-9258B04F1B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ff920207841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9128" y="4238157"/>
            <a:ext cx="533682" cy="304348"/>
          </a:xfrm>
          <a:prstGeom xmlns:a="http://schemas.openxmlformats.org/drawingml/2006/main" prst="rect">
            <a:avLst/>
          </a:prstGeom>
        </p:spPr>
      </p:pic>
      <p:sp>
        <p:nvSpPr>
          <p:cNvPr id="110" name="矩形 109">
            <a:extLst xmlns:a="http://schemas.openxmlformats.org/drawingml/2006/main">
              <a:ext uri="{FF2B5EF4-FFF2-40B4-BE49-F238E27FC236}">
                <a16:creationId xmlns:a16="http://schemas.microsoft.com/office/drawing/2014/main" id="{2AB1E931-3C58-2A04-A365-F6E4393E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866" y="4226829"/>
            <a:ext cx="1774300" cy="520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111" name="文本框 110">
            <a:extLst xmlns:a="http://schemas.openxmlformats.org/drawingml/2006/main">
              <a:ext uri="{FF2B5EF4-FFF2-40B4-BE49-F238E27FC236}">
                <a16:creationId xmlns:a16="http://schemas.microsoft.com/office/drawing/2014/main" id="{4854BBBB-1F18-2FE1-AF2A-8D2FA3A1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6191250"/>
            <a:ext cx="2124075" cy="2401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 algn="ctr">
              <a:defRPr sz="7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buNone/>
              <a:defRPr sz="7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Survey-weighted regression + XGBoost/SHAP</a:t>
            </a:r>
          </a:p>
          <a:p xmlns:a="http://schemas.openxmlformats.org/drawingml/2006/main">
            <a:pPr algn="ctr">
              <a:buNone/>
              <a:defRPr sz="7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Fat energy percentage and appetite/eating symptoms</a:t>
            </a:r>
            <a:endParaRPr sz="9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3" name="文本框 112">
            <a:extLst xmlns:a="http://schemas.openxmlformats.org/drawingml/2006/main">
              <a:ext uri="{FF2B5EF4-FFF2-40B4-BE49-F238E27FC236}">
                <a16:creationId xmlns:a16="http://schemas.microsoft.com/office/drawing/2014/main" id="{EE850EFA-8610-913F-E251-118BA019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097" y="4527471"/>
            <a:ext cx="3590988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atin typeface="Times New Roman"/>
                <a:ea typeface="Times New Roman"/>
                <a:cs typeface="Times New Roman"/>
              </a:rPr>
              <a:t>NHANES population-based analysis</a:t>
            </a:r>
            <a:endParaRPr sz="9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5" name="文本框 114">
            <a:extLst xmlns:a="http://schemas.openxmlformats.org/drawingml/2006/main">
              <a:ext uri="{FF2B5EF4-FFF2-40B4-BE49-F238E27FC236}">
                <a16:creationId xmlns:a16="http://schemas.microsoft.com/office/drawing/2014/main" id="{A57C11FF-384F-DE67-3E66-C4CF4330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730" y="5008005"/>
            <a:ext cx="201772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atin typeface="Times New Roman"/>
                <a:ea typeface="Times New Roman"/>
                <a:cs typeface="Times New Roman"/>
              </a:rPr>
              <a:t>Inclusion of dietary-related indicators and baseline characteristics</a:t>
            </a:r>
            <a:endParaRPr sz="900"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116" name="直接箭头连接符 115">
            <a:extLst xmlns:a="http://schemas.openxmlformats.org/drawingml/2006/main">
              <a:ext uri="{FF2B5EF4-FFF2-40B4-BE49-F238E27FC236}">
                <a16:creationId xmlns:a16="http://schemas.microsoft.com/office/drawing/2014/main" id="{CC3808F3-2B91-4174-A568-5253DD84649B}"/>
              </a:ext>
            </a:extLst>
          </p:cNvPr>
          <p:cNvCxnSpPr/>
          <p:nvPr/>
        </p:nvCxnSpPr>
        <p:spPr>
          <a:xfrm xmlns:a="http://schemas.openxmlformats.org/drawingml/2006/main">
            <a:off x="3558314" y="4747613"/>
            <a:ext cx="0" cy="260392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A1966E04-0C47-9E68-3B3C-293983D8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5906" y="5008005"/>
            <a:ext cx="1774300" cy="36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pic>
        <p:nvPicPr>
          <p:cNvPr id="120" name="图片 119">
            <a:extLst xmlns:a="http://schemas.openxmlformats.org/drawingml/2006/main">
              <a:ext uri="{FF2B5EF4-FFF2-40B4-BE49-F238E27FC236}">
                <a16:creationId xmlns:a16="http://schemas.microsoft.com/office/drawing/2014/main" id="{BF752790-45A9-49E4-B752-C5B5F59036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2ff152cdb44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79221" y="5680353"/>
            <a:ext cx="1497156" cy="487446"/>
          </a:xfrm>
          <a:prstGeom xmlns:a="http://schemas.openxmlformats.org/drawingml/2006/main" prst="rect">
            <a:avLst/>
          </a:prstGeom>
        </p:spPr>
      </p:pic>
      <p:sp>
        <p:nvSpPr>
          <p:cNvPr id="121" name="矩形 120">
            <a:extLst xmlns:a="http://schemas.openxmlformats.org/drawingml/2006/main">
              <a:ext uri="{FF2B5EF4-FFF2-40B4-BE49-F238E27FC236}">
                <a16:creationId xmlns:a16="http://schemas.microsoft.com/office/drawing/2014/main" id="{5DBE7E22-AD9A-E81F-8E5E-CB502A13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698" y="5628707"/>
            <a:ext cx="2965454" cy="8473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pic>
        <p:nvPicPr>
          <p:cNvPr id="1026" name="Picture 2">
            <a:extLst xmlns:a="http://schemas.openxmlformats.org/drawingml/2006/main">
              <a:ext uri="{FF2B5EF4-FFF2-40B4-BE49-F238E27FC236}">
                <a16:creationId xmlns:a16="http://schemas.microsoft.com/office/drawing/2014/main" id="{DBE16ED1-48B4-4DB2-8D1F-FB82E2C2AE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831f8d84541e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57293" y="5700250"/>
            <a:ext cx="880703" cy="482755"/>
          </a:xfrm>
          <a:prstGeom xmlns:a="http://schemas.openxmlformats.org/drawingml/2006/main" prst="rect">
            <a:avLst/>
          </a:prstGeom>
        </p:spPr>
      </p:pic>
      <p:cxnSp>
        <p:nvCxnSpPr>
          <p:cNvPr id="122" name="直接箭头连接符 121">
            <a:extLst xmlns:a="http://schemas.openxmlformats.org/drawingml/2006/main">
              <a:ext uri="{FF2B5EF4-FFF2-40B4-BE49-F238E27FC236}">
                <a16:creationId xmlns:a16="http://schemas.microsoft.com/office/drawing/2014/main" id="{4CDA9BF0-8130-495F-9FE1-D81681A9BDB7}"/>
              </a:ext>
            </a:extLst>
          </p:cNvPr>
          <p:cNvCxnSpPr/>
          <p:nvPr/>
        </p:nvCxnSpPr>
        <p:spPr>
          <a:xfrm xmlns:a="http://schemas.openxmlformats.org/drawingml/2006/main">
            <a:off x="3567917" y="5379005"/>
            <a:ext cx="0" cy="249702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25" name="直接箭头连接符 124">
            <a:extLst xmlns:a="http://schemas.openxmlformats.org/drawingml/2006/main">
              <a:ext uri="{FF2B5EF4-FFF2-40B4-BE49-F238E27FC236}">
                <a16:creationId xmlns:a16="http://schemas.microsoft.com/office/drawing/2014/main" id="{862B5F03-A73A-44FF-B32D-D220C1BF8730}"/>
              </a:ext>
            </a:extLst>
          </p:cNvPr>
          <p:cNvCxnSpPr/>
          <p:nvPr/>
        </p:nvCxnSpPr>
        <p:spPr>
          <a:xfrm xmlns:a="http://schemas.openxmlformats.org/drawingml/2006/main" flipH="1">
            <a:off x="1684232" y="6049377"/>
            <a:ext cx="394483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25" name="文本框 1024">
            <a:extLst xmlns:a="http://schemas.openxmlformats.org/drawingml/2006/main">
              <a:ext uri="{FF2B5EF4-FFF2-40B4-BE49-F238E27FC236}">
                <a16:creationId xmlns:a16="http://schemas.microsoft.com/office/drawing/2014/main" id="{A00196BB-3356-9B64-7F80-7EFD523D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1" y="5864711"/>
            <a:ext cx="127275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atin typeface="Times New Roman"/>
                <a:ea typeface="Times New Roman"/>
                <a:cs typeface="Times New Roman"/>
              </a:rPr>
              <a:t>Mendelian randomization analysis</a:t>
            </a:r>
            <a:endParaRPr sz="9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27" name="矩形 1026">
            <a:extLst xmlns:a="http://schemas.openxmlformats.org/drawingml/2006/main">
              <a:ext uri="{FF2B5EF4-FFF2-40B4-BE49-F238E27FC236}">
                <a16:creationId xmlns:a16="http://schemas.microsoft.com/office/drawing/2014/main" id="{E7A7D94C-2595-ADDF-47CD-B3013537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1" y="5864712"/>
            <a:ext cx="1158452" cy="36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pic>
        <p:nvPicPr>
          <p:cNvPr id="1029" name="图片 1028">
            <a:extLst xmlns:a="http://schemas.openxmlformats.org/drawingml/2006/main">
              <a:ext uri="{FF2B5EF4-FFF2-40B4-BE49-F238E27FC236}">
                <a16:creationId xmlns:a16="http://schemas.microsoft.com/office/drawing/2014/main" id="{4DEBC4EE-0978-4A5F-83FB-AEBE5AE940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aa3e371a3943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1771" y="4806941"/>
            <a:ext cx="1179577" cy="585777"/>
          </a:xfrm>
          <a:prstGeom xmlns:a="http://schemas.openxmlformats.org/drawingml/2006/main" prst="rect">
            <a:avLst/>
          </a:prstGeom>
        </p:spPr>
      </p:pic>
      <p:sp>
        <p:nvSpPr>
          <p:cNvPr id="1030" name="矩形 1029">
            <a:extLst xmlns:a="http://schemas.openxmlformats.org/drawingml/2006/main">
              <a:ext uri="{FF2B5EF4-FFF2-40B4-BE49-F238E27FC236}">
                <a16:creationId xmlns:a16="http://schemas.microsoft.com/office/drawing/2014/main" id="{FD470EC3-324F-B9D6-4622-7A3B65C3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" y="4758303"/>
            <a:ext cx="1863910" cy="92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1032" name="文本框 1031">
            <a:extLst xmlns:a="http://schemas.openxmlformats.org/drawingml/2006/main">
              <a:ext uri="{FF2B5EF4-FFF2-40B4-BE49-F238E27FC236}">
                <a16:creationId xmlns:a16="http://schemas.microsoft.com/office/drawing/2014/main" id="{E7D02893-C303-C864-4FA2-E5A8DAE8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410200"/>
            <a:ext cx="184785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 algn="ctr">
              <a:def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buNone/>
              <a:def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Macronutrient energy percentages</a:t>
            </a:r>
            <a:endParaRPr sz="9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buNone/>
              <a:def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Genetic instruments</a:t>
            </a:r>
            <a:endParaRPr sz="900"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1033" name="直接箭头连接符 1032">
            <a:extLst xmlns:a="http://schemas.openxmlformats.org/drawingml/2006/main">
              <a:ext uri="{FF2B5EF4-FFF2-40B4-BE49-F238E27FC236}">
                <a16:creationId xmlns:a16="http://schemas.microsoft.com/office/drawing/2014/main" id="{FC944379-39EE-4F83-BAA8-30D4C6F142AE}"/>
              </a:ext>
            </a:extLst>
          </p:cNvPr>
          <p:cNvCxnSpPr/>
          <p:nvPr/>
        </p:nvCxnSpPr>
        <p:spPr>
          <a:xfrm xmlns:a="http://schemas.openxmlformats.org/drawingml/2006/main" flipV="1">
            <a:off x="1079812" y="5658972"/>
            <a:ext cx="0" cy="20574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pic>
        <p:nvPicPr>
          <p:cNvPr id="1038" name="图片 1037">
            <a:extLst xmlns:a="http://schemas.openxmlformats.org/drawingml/2006/main">
              <a:ext uri="{FF2B5EF4-FFF2-40B4-BE49-F238E27FC236}">
                <a16:creationId xmlns:a16="http://schemas.microsoft.com/office/drawing/2014/main" id="{3534A871-2F21-47FE-A6F8-80EC665B1D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6a47a320246cc">
            <a:extLst>
              <a:ext uri="{96DAC541-7B7A-43D3-8B79-37D633B846F1}">
                <asvg:svgBlip xmlns:asvg="http://schemas.microsoft.com/office/drawing/2016/SVG/main" r:embed="Rab028984cddd40e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1" flipV="1">
            <a:off x="245143" y="4057410"/>
            <a:ext cx="1734754" cy="361493"/>
          </a:xfrm>
          <a:prstGeom xmlns:a="http://schemas.openxmlformats.org/drawingml/2006/main" prst="rect">
            <a:avLst/>
          </a:prstGeom>
        </p:spPr>
      </p:pic>
      <p:sp>
        <p:nvSpPr>
          <p:cNvPr id="1039" name="矩形 1038">
            <a:extLst xmlns:a="http://schemas.openxmlformats.org/drawingml/2006/main">
              <a:ext uri="{FF2B5EF4-FFF2-40B4-BE49-F238E27FC236}">
                <a16:creationId xmlns:a16="http://schemas.microsoft.com/office/drawing/2014/main" id="{331E45B8-3592-1B8D-E102-ABB3C149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89" y="4046082"/>
            <a:ext cx="1973063" cy="535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1041" name="文本框 1040">
            <a:extLst xmlns:a="http://schemas.openxmlformats.org/drawingml/2006/main">
              <a:ext uri="{FF2B5EF4-FFF2-40B4-BE49-F238E27FC236}">
                <a16:creationId xmlns:a16="http://schemas.microsoft.com/office/drawing/2014/main" id="{95BFA835-4EB3-B0DC-5091-53C4326A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4276725"/>
            <a:ext cx="1905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 algn="ctr">
              <a:def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buNone/>
              <a:def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MR estimates for dietary traits</a:t>
            </a:r>
            <a:endParaRPr sz="9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buNone/>
              <a:def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 AN, BN and EDs</a:t>
            </a:r>
            <a:endParaRPr sz="900"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1042" name="直接箭头连接符 1041">
            <a:extLst xmlns:a="http://schemas.openxmlformats.org/drawingml/2006/main">
              <a:ext uri="{FF2B5EF4-FFF2-40B4-BE49-F238E27FC236}">
                <a16:creationId xmlns:a16="http://schemas.microsoft.com/office/drawing/2014/main" id="{78FC76B1-CFE6-4A46-82F9-C1D4CA507D79}"/>
              </a:ext>
            </a:extLst>
          </p:cNvPr>
          <p:cNvCxnSpPr/>
          <p:nvPr/>
        </p:nvCxnSpPr>
        <p:spPr>
          <a:xfrm xmlns:a="http://schemas.openxmlformats.org/drawingml/2006/main" flipV="1">
            <a:off x="1087078" y="4581144"/>
            <a:ext cx="0" cy="16436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48" name="连接符: 肘形 1047">
            <a:extLst xmlns:a="http://schemas.openxmlformats.org/drawingml/2006/main">
              <a:ext uri="{FF2B5EF4-FFF2-40B4-BE49-F238E27FC236}">
                <a16:creationId xmlns:a16="http://schemas.microsoft.com/office/drawing/2014/main" id="{169CEF18-62CE-46A6-B967-4B443E4E1A33}"/>
              </a:ext>
            </a:extLst>
          </p:cNvPr>
          <p:cNvCxnSpPr>
            <a:stCxn xmlns:a="http://schemas.openxmlformats.org/drawingml/2006/main" id="1039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2108952" y="4313613"/>
            <a:ext cx="469778" cy="87905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53" name="直接箭头连接符 1052">
            <a:extLst xmlns:a="http://schemas.openxmlformats.org/drawingml/2006/main">
              <a:ext uri="{FF2B5EF4-FFF2-40B4-BE49-F238E27FC236}">
                <a16:creationId xmlns:a16="http://schemas.microsoft.com/office/drawing/2014/main" id="{B0117401-8E33-4375-B15D-235E471AE608}"/>
              </a:ext>
            </a:extLst>
          </p:cNvPr>
          <p:cNvCxnSpPr/>
          <p:nvPr/>
        </p:nvCxnSpPr>
        <p:spPr>
          <a:xfrm xmlns:a="http://schemas.openxmlformats.org/drawingml/2006/main">
            <a:off x="3558314" y="6476104"/>
            <a:ext cx="0" cy="249308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pic>
        <p:nvPicPr>
          <p:cNvPr id="1060" name="图片 1059">
            <a:extLst xmlns:a="http://schemas.openxmlformats.org/drawingml/2006/main">
              <a:ext uri="{FF2B5EF4-FFF2-40B4-BE49-F238E27FC236}">
                <a16:creationId xmlns:a16="http://schemas.microsoft.com/office/drawing/2014/main" id="{A88C298F-34BC-4329-A8D9-6C67776DE0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d98f5be2445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6763" y="6725412"/>
            <a:ext cx="701656" cy="357921"/>
          </a:xfrm>
          <a:prstGeom xmlns:a="http://schemas.openxmlformats.org/drawingml/2006/main" prst="rect">
            <a:avLst/>
          </a:prstGeom>
        </p:spPr>
      </p:pic>
      <p:sp>
        <p:nvSpPr>
          <p:cNvPr id="1061" name="矩形 1060">
            <a:extLst xmlns:a="http://schemas.openxmlformats.org/drawingml/2006/main">
              <a:ext uri="{FF2B5EF4-FFF2-40B4-BE49-F238E27FC236}">
                <a16:creationId xmlns:a16="http://schemas.microsoft.com/office/drawing/2014/main" id="{01F1A3EE-95D3-F661-2A5E-69A0FC75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772" y="6716090"/>
            <a:ext cx="1641793" cy="656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1063" name="文本框 1062">
            <a:extLst xmlns:a="http://schemas.openxmlformats.org/drawingml/2006/main">
              <a:ext uri="{FF2B5EF4-FFF2-40B4-BE49-F238E27FC236}">
                <a16:creationId xmlns:a16="http://schemas.microsoft.com/office/drawing/2014/main" id="{D46C5816-F374-78CB-83E9-CC5A758A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7058025"/>
            <a:ext cx="161925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 algn="ctr">
              <a:def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buNone/>
              <a:def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Human AN and mouse HFD/chow</a:t>
            </a:r>
            <a:endParaRPr sz="9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buNone/>
              <a:def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brain transcriptomes (GEO)</a:t>
            </a:r>
            <a:endParaRPr sz="9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65" name="文本框 1064">
            <a:extLst xmlns:a="http://schemas.openxmlformats.org/drawingml/2006/main">
              <a:ext uri="{FF2B5EF4-FFF2-40B4-BE49-F238E27FC236}">
                <a16:creationId xmlns:a16="http://schemas.microsoft.com/office/drawing/2014/main" id="{02CD5DD8-C4EB-5EEE-5B05-BFB97061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8029575"/>
            <a:ext cx="200025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 algn="ctr">
              <a:def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buNone/>
              <a:def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9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66" name="图片 1065">
            <a:extLst xmlns:a="http://schemas.openxmlformats.org/drawingml/2006/main">
              <a:ext uri="{FF2B5EF4-FFF2-40B4-BE49-F238E27FC236}">
                <a16:creationId xmlns:a16="http://schemas.microsoft.com/office/drawing/2014/main" id="{AA6276D3-191A-4D62-9C9D-5B72F2C59A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6badf970b4cab">
            <a:extLst>
              <a:ext uri="{96DAC541-7B7A-43D3-8B79-37D633B846F1}">
                <asvg:svgBlip xmlns:asvg="http://schemas.microsoft.com/office/drawing/2016/SVG/main" r:embed="R1f387f194a364068"/>
              </a:ext>
            </a:extLst>
          </a:blip>
          <a:srcRect xmlns:a="http://schemas.openxmlformats.org/drawingml/2006/main" l="0" t="719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4222" y="7859644"/>
            <a:ext cx="887264" cy="707682"/>
          </a:xfrm>
          <a:prstGeom xmlns:a="http://schemas.openxmlformats.org/drawingml/2006/main" prst="rect">
            <a:avLst/>
          </a:prstGeom>
        </p:spPr>
      </p:pic>
      <p:sp>
        <p:nvSpPr>
          <p:cNvPr id="1067" name="矩形 1066">
            <a:extLst xmlns:a="http://schemas.openxmlformats.org/drawingml/2006/main">
              <a:ext uri="{FF2B5EF4-FFF2-40B4-BE49-F238E27FC236}">
                <a16:creationId xmlns:a16="http://schemas.microsoft.com/office/drawing/2014/main" id="{56C313D0-65E4-B443-0610-719212C1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" y="7766147"/>
            <a:ext cx="2185416" cy="1032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pic>
        <p:nvPicPr>
          <p:cNvPr id="1068" name="图片 1067">
            <a:extLst xmlns:a="http://schemas.openxmlformats.org/drawingml/2006/main">
              <a:ext uri="{FF2B5EF4-FFF2-40B4-BE49-F238E27FC236}">
                <a16:creationId xmlns:a16="http://schemas.microsoft.com/office/drawing/2014/main" id="{01950A36-3AB2-450A-81FF-09853F7E12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7ca212315245ad">
            <a:extLst>
              <a:ext uri="{96DAC541-7B7A-43D3-8B79-37D633B846F1}">
                <asvg:svgBlip xmlns:asvg="http://schemas.microsoft.com/office/drawing/2016/SVG/main" r:embed="Rc24f6d28c8f2460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14381" y="7823068"/>
            <a:ext cx="803588" cy="779722"/>
          </a:xfrm>
          <a:prstGeom xmlns:a="http://schemas.openxmlformats.org/drawingml/2006/main" prst="rect">
            <a:avLst/>
          </a:prstGeom>
        </p:spPr>
      </p:pic>
      <p:sp>
        <p:nvSpPr>
          <p:cNvPr id="1069" name="矩形 1068">
            <a:extLst xmlns:a="http://schemas.openxmlformats.org/drawingml/2006/main">
              <a:ext uri="{FF2B5EF4-FFF2-40B4-BE49-F238E27FC236}">
                <a16:creationId xmlns:a16="http://schemas.microsoft.com/office/drawing/2014/main" id="{4BC07EB2-022A-3A4E-395C-6C56C847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606" y="7766147"/>
            <a:ext cx="2185416" cy="1032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pic>
        <p:nvPicPr>
          <p:cNvPr id="1070" name="图片 1069">
            <a:extLst xmlns:a="http://schemas.openxmlformats.org/drawingml/2006/main">
              <a:ext uri="{FF2B5EF4-FFF2-40B4-BE49-F238E27FC236}">
                <a16:creationId xmlns:a16="http://schemas.microsoft.com/office/drawing/2014/main" id="{2FBA849B-227C-421D-81C4-69BAEEE18D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9e611c5ee3401c">
            <a:extLst>
              <a:ext uri="{96DAC541-7B7A-43D3-8B79-37D633B846F1}">
                <asvg:svgBlip xmlns:asvg="http://schemas.microsoft.com/office/drawing/2016/SVG/main" r:embed="R4eff717a2c264e31"/>
              </a:ext>
            </a:extLst>
          </a:blip>
          <a:srcRect xmlns:a="http://schemas.openxmlformats.org/drawingml/2006/main" l="881" t="2895" r="10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34942" y="7823068"/>
            <a:ext cx="1728390" cy="859318"/>
          </a:xfrm>
          <a:prstGeom xmlns:a="http://schemas.openxmlformats.org/drawingml/2006/main" prst="rect">
            <a:avLst/>
          </a:prstGeom>
        </p:spPr>
      </p:pic>
      <p:sp>
        <p:nvSpPr>
          <p:cNvPr id="1072" name="文本框 1071">
            <a:extLst xmlns:a="http://schemas.openxmlformats.org/drawingml/2006/main">
              <a:ext uri="{FF2B5EF4-FFF2-40B4-BE49-F238E27FC236}">
                <a16:creationId xmlns:a16="http://schemas.microsoft.com/office/drawing/2014/main" id="{5768C3C9-7393-36D6-0BBF-1455E25D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8029575"/>
            <a:ext cx="200025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 algn="ctr">
              <a:def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9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74" name="图片 1073">
            <a:extLst xmlns:a="http://schemas.openxmlformats.org/drawingml/2006/main">
              <a:ext uri="{FF2B5EF4-FFF2-40B4-BE49-F238E27FC236}">
                <a16:creationId xmlns:a16="http://schemas.microsoft.com/office/drawing/2014/main" id="{CBCF1DFB-7AFB-41F4-8BE1-4BCAF67B11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cc119e43e4e86">
            <a:extLst>
              <a:ext uri="{96DAC541-7B7A-43D3-8B79-37D633B846F1}">
                <asvg:svgBlip xmlns:asvg="http://schemas.microsoft.com/office/drawing/2016/SVG/main" r:embed="R723946a7232844a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4887" y="7809197"/>
            <a:ext cx="1074444" cy="828063"/>
          </a:xfrm>
          <a:prstGeom xmlns:a="http://schemas.openxmlformats.org/drawingml/2006/main" prst="rect">
            <a:avLst/>
          </a:prstGeom>
        </p:spPr>
      </p:pic>
      <p:sp>
        <p:nvSpPr>
          <p:cNvPr id="1075" name="矩形 1074">
            <a:extLst xmlns:a="http://schemas.openxmlformats.org/drawingml/2006/main">
              <a:ext uri="{FF2B5EF4-FFF2-40B4-BE49-F238E27FC236}">
                <a16:creationId xmlns:a16="http://schemas.microsoft.com/office/drawing/2014/main" id="{2D1585B8-F2DA-6537-59FC-6A2EC9A5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996" y="7752276"/>
            <a:ext cx="1335024" cy="1032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1077" name="文本框 1076">
            <a:extLst xmlns:a="http://schemas.openxmlformats.org/drawingml/2006/main">
              <a:ext uri="{FF2B5EF4-FFF2-40B4-BE49-F238E27FC236}">
                <a16:creationId xmlns:a16="http://schemas.microsoft.com/office/drawing/2014/main" id="{641C3172-A32D-62DA-068A-F69A2E0E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8029575"/>
            <a:ext cx="119062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 algn="ctr">
              <a:def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078" name="直接连接符 1077">
            <a:extLst xmlns:a="http://schemas.openxmlformats.org/drawingml/2006/main">
              <a:ext uri="{FF2B5EF4-FFF2-40B4-BE49-F238E27FC236}">
                <a16:creationId xmlns:a16="http://schemas.microsoft.com/office/drawing/2014/main" id="{6E139308-FBE5-46E0-9DC7-D2CDF7F9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64" y="7513178"/>
            <a:ext cx="0" cy="239098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79" name="直接连接符 1078">
            <a:extLst xmlns:a="http://schemas.openxmlformats.org/drawingml/2006/main">
              <a:ext uri="{FF2B5EF4-FFF2-40B4-BE49-F238E27FC236}">
                <a16:creationId xmlns:a16="http://schemas.microsoft.com/office/drawing/2014/main" id="{F725CF03-1CFE-468F-A515-0CB93055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512805" y="7513178"/>
            <a:ext cx="5621" cy="239098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80" name="直接连接符 1079">
            <a:extLst xmlns:a="http://schemas.openxmlformats.org/drawingml/2006/main">
              <a:ext uri="{FF2B5EF4-FFF2-40B4-BE49-F238E27FC236}">
                <a16:creationId xmlns:a16="http://schemas.microsoft.com/office/drawing/2014/main" id="{06D1BD2F-0F51-489C-8674-E380874B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8314" y="7372955"/>
            <a:ext cx="0" cy="37932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81" name="直接连接符 1080">
            <a:extLst xmlns:a="http://schemas.openxmlformats.org/drawingml/2006/main">
              <a:ext uri="{FF2B5EF4-FFF2-40B4-BE49-F238E27FC236}">
                <a16:creationId xmlns:a16="http://schemas.microsoft.com/office/drawing/2014/main" id="{D882AA4F-4A88-4799-8226-E7EA0A54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255" y="7513178"/>
            <a:ext cx="42815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82" name="replace-obsolete-bottom-modules">
            <a:extLst xmlns:a="http://schemas.openxmlformats.org/drawingml/2006/main">
              <a:ext uri="{FF2B5EF4-FFF2-40B4-BE49-F238E27FC236}">
                <a16:creationId xmlns:a16="http://schemas.microsoft.com/office/drawing/2014/main" id="{BBB3EF39-584C-4C0F-86E5-D7874DB4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15250"/>
            <a:ext cx="685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83" name="module-17">
            <a:extLst xmlns:a="http://schemas.openxmlformats.org/drawingml/2006/main">
              <a:ext uri="{FF2B5EF4-FFF2-40B4-BE49-F238E27FC236}">
                <a16:creationId xmlns:a16="http://schemas.microsoft.com/office/drawing/2014/main" id="{BAE8CAC7-E208-4575-A200-70D208B9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7762875"/>
            <a:ext cx="2000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pic>
        <p:nvPicPr>
          <p:cNvPr id="1084" name="">
            <a:extLst xmlns:a="http://schemas.openxmlformats.org/drawingml/2006/main">
              <a:ext uri="{FF2B5EF4-FFF2-40B4-BE49-F238E27FC236}">
                <a16:creationId xmlns:a16="http://schemas.microsoft.com/office/drawing/2014/main" id="{0801F6A1-E331-4833-8A49-2CCB247FB3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b1f351d1d4bb8"/>
          <a:stretch xmlns:a="http://schemas.openxmlformats.org/drawingml/2006/main"/>
        </p:blipFill>
        <p:spPr>
          <a:xfrm xmlns:a="http://schemas.openxmlformats.org/drawingml/2006/main">
            <a:off x="285776" y="7981950"/>
            <a:ext cx="800049" cy="733425"/>
          </a:xfrm>
          <a:prstGeom xmlns:a="http://schemas.openxmlformats.org/drawingml/2006/main" prst="rect">
            <a:avLst/>
          </a:prstGeom>
        </p:spPr>
      </p:pic>
      <p:pic>
        <p:nvPicPr>
          <p:cNvPr id="1085" name="">
            <a:extLst xmlns:a="http://schemas.openxmlformats.org/drawingml/2006/main">
              <a:ext uri="{FF2B5EF4-FFF2-40B4-BE49-F238E27FC236}">
                <a16:creationId xmlns:a16="http://schemas.microsoft.com/office/drawing/2014/main" id="{36B06EF2-27BA-4368-9F68-41B24FCEF9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1b789509c54d82"/>
          <a:stretch xmlns:a="http://schemas.openxmlformats.org/drawingml/2006/main"/>
        </p:blipFill>
        <p:spPr>
          <a:xfrm xmlns:a="http://schemas.openxmlformats.org/drawingml/2006/main">
            <a:off x="1238276" y="7981950"/>
            <a:ext cx="800049" cy="733425"/>
          </a:xfrm>
          <a:prstGeom xmlns:a="http://schemas.openxmlformats.org/drawingml/2006/main" prst="rect">
            <a:avLst/>
          </a:prstGeom>
        </p:spPr>
      </p:pic>
      <p:sp>
        <p:nvSpPr>
          <p:cNvPr id="1086" name="label-17-820">
            <a:extLst xmlns:a="http://schemas.openxmlformats.org/drawingml/2006/main">
              <a:ext uri="{FF2B5EF4-FFF2-40B4-BE49-F238E27FC236}">
                <a16:creationId xmlns:a16="http://schemas.microsoft.com/office/drawing/2014/main" id="{73C3D736-93DF-4DBE-AD94-B8C5C925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7810500"/>
            <a:ext cx="1924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8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Genetic / transcriptomic integration</a:t>
            </a:r>
          </a:p>
        </p:txBody>
      </p:sp>
      <p:sp>
        <p:nvSpPr>
          <p:cNvPr id="1087" name="label-17-918">
            <a:extLst xmlns:a="http://schemas.openxmlformats.org/drawingml/2006/main">
              <a:ext uri="{FF2B5EF4-FFF2-40B4-BE49-F238E27FC236}">
                <a16:creationId xmlns:a16="http://schemas.microsoft.com/office/drawing/2014/main" id="{3BC5384C-AE69-4469-A268-D9C2CD6C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8743950"/>
            <a:ext cx="1924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8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Human AN differential expression</a:t>
            </a:r>
          </a:p>
        </p:txBody>
      </p:sp>
      <p:sp>
        <p:nvSpPr>
          <p:cNvPr id="1088" name="module-255">
            <a:extLst xmlns:a="http://schemas.openxmlformats.org/drawingml/2006/main">
              <a:ext uri="{FF2B5EF4-FFF2-40B4-BE49-F238E27FC236}">
                <a16:creationId xmlns:a16="http://schemas.microsoft.com/office/drawing/2014/main" id="{72CA66F3-8E03-482E-905E-04B4E140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762875"/>
            <a:ext cx="2000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pic>
        <p:nvPicPr>
          <p:cNvPr id="1089" name="">
            <a:extLst xmlns:a="http://schemas.openxmlformats.org/drawingml/2006/main">
              <a:ext uri="{FF2B5EF4-FFF2-40B4-BE49-F238E27FC236}">
                <a16:creationId xmlns:a16="http://schemas.microsoft.com/office/drawing/2014/main" id="{1937FBC6-9A2D-4942-A29F-ADF9900425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8b2790d4e4ed9"/>
          <a:stretch xmlns:a="http://schemas.openxmlformats.org/drawingml/2006/main"/>
        </p:blipFill>
        <p:spPr>
          <a:xfrm xmlns:a="http://schemas.openxmlformats.org/drawingml/2006/main">
            <a:off x="2494424" y="7981950"/>
            <a:ext cx="916652" cy="733425"/>
          </a:xfrm>
          <a:prstGeom xmlns:a="http://schemas.openxmlformats.org/drawingml/2006/main" prst="rect">
            <a:avLst/>
          </a:prstGeom>
        </p:spPr>
      </p:pic>
      <p:pic>
        <p:nvPicPr>
          <p:cNvPr id="1090" name="">
            <a:extLst xmlns:a="http://schemas.openxmlformats.org/drawingml/2006/main">
              <a:ext uri="{FF2B5EF4-FFF2-40B4-BE49-F238E27FC236}">
                <a16:creationId xmlns:a16="http://schemas.microsoft.com/office/drawing/2014/main" id="{F22EB9C8-DF37-4AD5-B6AF-77F3E0B663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74c7e5c91465d"/>
          <a:stretch xmlns:a="http://schemas.openxmlformats.org/drawingml/2006/main"/>
        </p:blipFill>
        <p:spPr>
          <a:xfrm xmlns:a="http://schemas.openxmlformats.org/drawingml/2006/main">
            <a:off x="3571849" y="7981950"/>
            <a:ext cx="666801" cy="733425"/>
          </a:xfrm>
          <a:prstGeom xmlns:a="http://schemas.openxmlformats.org/drawingml/2006/main" prst="rect">
            <a:avLst/>
          </a:prstGeom>
        </p:spPr>
      </p:pic>
      <p:sp>
        <p:nvSpPr>
          <p:cNvPr id="1091" name="label-255-820">
            <a:extLst xmlns:a="http://schemas.openxmlformats.org/drawingml/2006/main">
              <a:ext uri="{FF2B5EF4-FFF2-40B4-BE49-F238E27FC236}">
                <a16:creationId xmlns:a16="http://schemas.microsoft.com/office/drawing/2014/main" id="{0FF663FE-0344-4940-B620-766EACF6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7810500"/>
            <a:ext cx="1924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8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Brain cell-type analyses</a:t>
            </a:r>
          </a:p>
        </p:txBody>
      </p:sp>
      <p:sp>
        <p:nvSpPr>
          <p:cNvPr id="1092" name="label-255-918">
            <a:extLst xmlns:a="http://schemas.openxmlformats.org/drawingml/2006/main">
              <a:ext uri="{FF2B5EF4-FFF2-40B4-BE49-F238E27FC236}">
                <a16:creationId xmlns:a16="http://schemas.microsoft.com/office/drawing/2014/main" id="{78CC73F4-106F-4A89-BD38-CC052582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8743950"/>
            <a:ext cx="1924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8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Single-nucleus reference and BisqueRNA</a:t>
            </a:r>
          </a:p>
        </p:txBody>
      </p:sp>
      <p:sp>
        <p:nvSpPr>
          <p:cNvPr id="1093" name="module-493">
            <a:extLst xmlns:a="http://schemas.openxmlformats.org/drawingml/2006/main">
              <a:ext uri="{FF2B5EF4-FFF2-40B4-BE49-F238E27FC236}">
                <a16:creationId xmlns:a16="http://schemas.microsoft.com/office/drawing/2014/main" id="{D170A6E6-D405-4A98-B444-EA7A4A4F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7762875"/>
            <a:ext cx="2000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</a:ln>
        </p:spPr>
      </p:sp>
      <p:pic>
        <p:nvPicPr>
          <p:cNvPr id="1094" name="">
            <a:extLst xmlns:a="http://schemas.openxmlformats.org/drawingml/2006/main">
              <a:ext uri="{FF2B5EF4-FFF2-40B4-BE49-F238E27FC236}">
                <a16:creationId xmlns:a16="http://schemas.microsoft.com/office/drawing/2014/main" id="{C4D9B65D-7289-4772-8752-406FD8CD0C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56c577bbb64768"/>
          <a:stretch xmlns:a="http://schemas.openxmlformats.org/drawingml/2006/main"/>
        </p:blipFill>
        <p:spPr>
          <a:xfrm xmlns:a="http://schemas.openxmlformats.org/drawingml/2006/main">
            <a:off x="5187824" y="7981950"/>
            <a:ext cx="978151" cy="733425"/>
          </a:xfrm>
          <a:prstGeom xmlns:a="http://schemas.openxmlformats.org/drawingml/2006/main" prst="rect">
            <a:avLst/>
          </a:prstGeom>
        </p:spPr>
      </p:pic>
      <p:sp>
        <p:nvSpPr>
          <p:cNvPr id="1095" name="label-493-820">
            <a:extLst xmlns:a="http://schemas.openxmlformats.org/drawingml/2006/main">
              <a:ext uri="{FF2B5EF4-FFF2-40B4-BE49-F238E27FC236}">
                <a16:creationId xmlns:a16="http://schemas.microsoft.com/office/drawing/2014/main" id="{6B8E317B-C491-43A3-8837-9F11DBEB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7810500"/>
            <a:ext cx="1924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8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Putative regulatory networks</a:t>
            </a:r>
          </a:p>
        </p:txBody>
      </p:sp>
      <p:sp>
        <p:nvSpPr>
          <p:cNvPr id="1096" name="label-493-918">
            <a:extLst xmlns:a="http://schemas.openxmlformats.org/drawingml/2006/main">
              <a:ext uri="{FF2B5EF4-FFF2-40B4-BE49-F238E27FC236}">
                <a16:creationId xmlns:a16="http://schemas.microsoft.com/office/drawing/2014/main" id="{D0ABD447-ABD4-4BD3-9E34-F1004C93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8743950"/>
            <a:ext cx="1924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8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Supported SNX27 ceRNA module</a:t>
            </a:r>
          </a:p>
        </p:txBody>
      </p:sp>
    </p:spTree>
    <p:extLst>
      <p:ext uri="{BB962C8B-B14F-4D97-AF65-F5344CB8AC3E}">
        <p14:creationId xmlns:p14="http://schemas.microsoft.com/office/powerpoint/2010/main" val="398900393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2026-10-16T06:03:52.3590000Z</dcterms:created>
  <dcterms:modified xsi:type="dcterms:W3CDTF">2026-10-16T06:03:52.3590000Z</dcterms:modified>
</coreProperties>
</file>